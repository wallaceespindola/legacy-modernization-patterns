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Wallace. This talk is about modernizing a core banking system without a big-bang rewrite.</a:t>
            </a:r>
          </a:p>
          <a:p>
            <a:r>
              <a:t>Everybody in the room has heard of the Strangler Fig pattern. My point today is that it is the migration framework, and only that. The work that keeps money correct during the migration is done by a handful of other patterns, and that is what I want to walk through.</a:t>
            </a:r>
          </a:p>
          <a:p>
            <a:r>
              <a:t>Everything I show, including a small Java module with tests, is in a public repo. Link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typical starting point. The mainframe is the system of record for ledger posting and settlement. It is fast and stable, and that is exactly why nobody wants to touch it.</a:t>
            </a:r>
          </a:p>
          <a:p>
            <a:r>
              <a:t>The pressure comes from around it: channels expect real-time behavior, and knowledge is walking out of the door.</a:t>
            </a:r>
          </a:p>
          <a:p>
            <a:r>
              <a:t>Big-bang replacement has a poor track record in this setting, so the realistic option is incremental: one capability at a time, with both systems live for a long while.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Martin Fowler described the Strangler Fig Application years ago, and the idea holds: put something in front of the old system and move traffic gradually.</a:t>
            </a:r>
          </a:p>
          <a:p>
            <a:r>
              <a:t>But look at the second list. Routing doesn't tell you what to extract, it doesn't move data, and it doesn't prove anything. In banking those three questions are where projects fail. The rest of the talk is the patterns that answer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account inquiry example from the repo. The facade routes new reads to a Java service. Legacy paths and the fallback go through an anti-corruption layer. CDC feeds a read model with pending and posted balances. The new service runs in parallel with the legacy path until it proves equivalence. New events leave through an outbox. A reconciliation job compares the books on both sides.</a:t>
            </a:r>
          </a:p>
          <a:p>
            <a:r>
              <a:t>Each box answers one of the questions from the previous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whole catalog on one slide. The context file in the repo has a page on each.</a:t>
            </a:r>
          </a:p>
          <a:p>
            <a:r>
              <a:t>Two warnings worth stating now. A saga is not a substitute for atomic ledger posting. And CQRS here does not mean event sourcing: the mainframe ledger is already your write model.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DDD's job here is to find business capability boundaries. Legacy program structure reflects old online and batch splits, not capabilities.</a:t>
            </a:r>
          </a:p>
          <a:p>
            <a:r>
              <a:t>Classify subdomains. The ledger is core, highly coupled and high risk, so it moves last or stays on the mainframe. Supporting capabilities like inquiry or notifications are where you prove your pipeline.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Syntax translation is the easy half: character sets, packed decimals, fixed-width records.</a:t>
            </a:r>
          </a:p>
          <a:p>
            <a:r>
              <a:t>The valuable half is semantic. A field called balance in the legacy record can mean three different things. If the ACL doesn't make that explicit, the new service inherits the ambiguity.</a:t>
            </a:r>
          </a:p>
          <a:p>
            <a:r>
              <a:t>And the ACL is transitional: if nothing sits behind it any more, delete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from the Java module in the repo. Return codes become a sealed result type, so callers can't forget the not-found and blocked cases. Technical codes become an exception.</a:t>
            </a:r>
          </a:p>
          <a:p>
            <a:r>
              <a:t>And the record type flag becomes an explicit balance type: memo-posted is pending, ledger is posted. That's the semantic part of the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Reads are the safest place to start. CDC copies committed changes into a read-optimized store, and the ledger keeps the truth.</a:t>
            </a:r>
          </a:p>
          <a:p>
            <a:r>
              <a:t>The banking trap is intraday posting. If your read model doesn't model pending and posted separately, balances jump when the batch runs.</a:t>
            </a:r>
          </a:p>
          <a:p>
            <a:r>
              <a:t>And customers expect to see their own payment right away, so you need a plan for read-your-own-writes, including a route back to the legacy read when lag breaches the SLO.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people skip. At every stage exactly one system owns writes, and the other receives data through CDC or a sync path.</a:t>
            </a:r>
          </a:p>
          <a:p>
            <a:r>
              <a:t>Stage three is easy to forget: once the new service owns writes, legacy batch, reports and regulatory feeds still need the data, so you need reverse synchronization until those consumers have moved.</a:t>
            </a:r>
          </a:p>
          <a:p>
            <a:r>
              <a:t>Dual writes from application code guarantee divergence on the first partial failure.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publish an event after committing, you will eventually lose one. If you publish before, you will eventually send one for a change that rolled back. The outbox fixes that by putting the event in the same transaction.</a:t>
            </a:r>
          </a:p>
          <a:p>
            <a:r>
              <a:t>That gives you at-least-once delivery, so consumers must be idempotent. The repo has a small in-memory version of both, with tests.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Parallel run is how you earn the right to switch a route. Legacy stays authoritative during the shadow phase; the new result is only compared.</a:t>
            </a:r>
          </a:p>
          <a:p>
            <a:r>
              <a:t>Most mismatches are not bugs in the business logic. They are rounding mode, day-count convention, date handling. COBOL ROUNDED defaults to half up; Java BigDecimal needs an explicit rounding mode.</a:t>
            </a:r>
          </a:p>
          <a:p>
            <a:r>
              <a:t>And the shadow path must never send a notification or post money. Make that impossible by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rollout stages. Shadow first, then canary for a small segment while legacy is still computed and compared, then full cutover with legacy kept warm for a rollback window, then decommission.</a:t>
            </a:r>
          </a:p>
          <a:p>
            <a:r>
              <a:t>Mismatches above the agreed threshold send you back to shadow. That loop is the safety net.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matters for every write that touches money. When a posting call times out, you don't know whether it happened.</a:t>
            </a:r>
          </a:p>
          <a:p>
            <a:r>
              <a:t>So: an idempotency key end to end, query status before any retry, retry only with the same key, and anything still unknown goes to reconciliation. Never blind-retry a non-idempotent write.</a:t>
            </a:r>
          </a:p>
          <a:p>
            <a:r>
              <a:t>Circuit breakers and bulkheads still apply, but on financial writes they must respect this rule. Retries also burn mainframe capacity, which is often what you pay for.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rule in Java. On a timeout, ask first. If the ledger already has it, you're done. If not, retry once with the same idempotency key. If you still don't know, park it for reconciliation instead of guessing.</a:t>
            </a:r>
          </a:p>
          <a:p>
            <a:r>
              <a:t>The tests in the repo cover all three paths with a fake gateway.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Sagas fit long business processes that span services. In a bank, compensation maps naturally to reversal entries, as long as the ledger supports them.</a:t>
            </a:r>
          </a:p>
          <a:p>
            <a:r>
              <a:t>Orchestration gives you one place to see state, audit and time out, which matters in regulated flows.</a:t>
            </a:r>
          </a:p>
          <a:p>
            <a:r>
              <a:t>And the warning again: a saga coordinates steps, it does not make a posting atomic.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account example as a plan. The key detail is phase two: install the facade early as a pass-through, with all traffic still going to legacy. Routes only flip after phase four.</a:t>
            </a:r>
          </a:p>
          <a:p>
            <a:r>
              <a:t>Each phase has an exit criterion you can check. Decommission is gated by reconciliation and sign-off, not by passing tests.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one of these shows up in real programs. The perpetual strangler is the expensive one: the bank pays for both stacks indefinitely because nobody defined when the transitional pieces get removed.</a:t>
            </a:r>
          </a:p>
          <a:p>
            <a:r>
              <a:t>Put a removal date on every facade route, ACL and sync pipeline when you build it.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architect's job is choosing, not collecting patterns. Most of the value is in data ownership, transaction semantics and the gates.</a:t>
            </a:r>
          </a:p>
          <a:p>
            <a:r>
              <a:t>In the EU, DORA has applied since January 2025, and it covers operational resilience and ICT third-party risk, including exit strategies. That shapes how you use cloud and AI providers in the program.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shortens the slow parts: reading a large estate, drafting rules, generating test candidates, sorting thousands of mismatches into a few root causes.</a:t>
            </a:r>
          </a:p>
          <a:p>
            <a:r>
              <a:t>It does not get authority over financial behavior. Traceability to source is the control that makes extracted rules reviewable.</a:t>
            </a:r>
          </a:p>
          <a:p>
            <a:r>
              <a:t>And watch out for "JOBOL": Java that keeps the COBOL structure. Use AI to understand and re-express rules, not to transliterate.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take this one. Each row is a goal and the pair of patterns that usually answers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close. Strangler Fig is the framework; DDD decides what to extract; the ACL protects the new design; CDC, CQRS and the outbox let both systems coexist; parallel runs and reconciliation decide when you are done.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The repo has the full pattern context, the Java module with tests, the diagrams and these slides.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4000" b="1">
                <a:solidFill>
                  <a:srgbClr val="4ECDC4"/>
                </a:solidFill>
                <a:latin typeface="Arial"/>
              </a:rPr>
              <a:t>Strangler Fig Is Not Enough</a:t>
            </a:r>
          </a:p>
        </p:txBody>
      </p:sp>
      <p:sp>
        <p:nvSpPr>
          <p:cNvPr id="3" name="TextBox 2"/>
          <p:cNvSpPr txBox="1"/>
          <p:nvPr/>
        </p:nvSpPr>
        <p:spPr>
          <a:xfrm>
            <a:off x="548640" y="1280160"/>
            <a:ext cx="11094415" cy="731520"/>
          </a:xfrm>
          <a:prstGeom prst="rect">
            <a:avLst/>
          </a:prstGeom>
          <a:noFill/>
        </p:spPr>
        <p:txBody>
          <a:bodyPr wrap="none">
            <a:spAutoFit/>
          </a:bodyPr>
          <a:lstStyle/>
          <a:p>
            <a:r>
              <a:rPr sz="2600">
                <a:solidFill>
                  <a:srgbClr val="FFFFFF"/>
                </a:solidFill>
                <a:latin typeface="Arial"/>
              </a:rPr>
              <a:t>Patterns for safe core banking modernization</a:t>
            </a:r>
          </a:p>
        </p:txBody>
      </p:sp>
      <p:sp>
        <p:nvSpPr>
          <p:cNvPr id="4" name="TextBox 3"/>
          <p:cNvSpPr txBox="1"/>
          <p:nvPr/>
        </p:nvSpPr>
        <p:spPr>
          <a:xfrm>
            <a:off x="548640" y="2194560"/>
            <a:ext cx="11094415" cy="4297680"/>
          </a:xfrm>
          <a:prstGeom prst="rect">
            <a:avLst/>
          </a:prstGeom>
          <a:noFill/>
        </p:spPr>
        <p:txBody>
          <a:bodyPr wrap="square">
            <a:spAutoFit/>
          </a:bodyPr>
          <a:lstStyle/>
          <a:p>
            <a:pPr>
              <a:spcAft>
                <a:spcPts val="600"/>
              </a:spcAft>
            </a:pPr>
            <a:r>
              <a:rPr b="1" sz="1800">
                <a:solidFill>
                  <a:srgbClr val="FFFFFF"/>
                </a:solidFill>
                <a:latin typeface="Arial"/>
              </a:rPr>
              <a:t>Wallace Espindola</a:t>
            </a:r>
          </a:p>
          <a:p>
            <a:pPr>
              <a:spcAft>
                <a:spcPts val="600"/>
              </a:spcAft>
            </a:pPr>
            <a:r>
              <a:rPr sz="1800">
                <a:solidFill>
                  <a:srgbClr val="FFFFFF"/>
                </a:solidFill>
                <a:latin typeface="Arial"/>
              </a:rPr>
              <a:t>Solution Architect</a:t>
            </a:r>
          </a:p>
          <a:p>
            <a:pPr>
              <a:spcAft>
                <a:spcPts val="600"/>
              </a:spcAft>
            </a:pPr>
            <a:r>
              <a:rPr sz="1800">
                <a:solidFill>
                  <a:srgbClr val="FFFFFF"/>
                </a:solidFill>
                <a:latin typeface="Arial"/>
              </a:rPr>
              <a:t>&lt;wallace.espindola@gmail.com&gt;</a:t>
            </a:r>
          </a:p>
          <a:p>
            <a:pPr>
              <a:spcAft>
                <a:spcPts val="600"/>
              </a:spcAft>
            </a:pPr>
            <a:r>
              <a:rPr sz="1800">
                <a:solidFill>
                  <a:srgbClr val="FFFFFF"/>
                </a:solidFill>
                <a:latin typeface="Arial"/>
              </a:rPr>
              <a:t>linkedin.com/in/wallaceespindola | github.com/wallaceespindola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The starting point</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 COBOL and CICS on a mainframe post the ledger, run end-of-day batch and feed regulatory reports</a:t>
            </a:r>
          </a:p>
          <a:p>
            <a:pPr>
              <a:spcAft>
                <a:spcPts val="600"/>
              </a:spcAft>
            </a:pPr>
            <a:r>
              <a:rPr sz="2000">
                <a:solidFill>
                  <a:srgbClr val="1A2744"/>
                </a:solidFill>
                <a:latin typeface="Arial"/>
              </a:rPr>
              <a:t>• It works, it is audited, and it cannot go offline for a weekend cutover</a:t>
            </a:r>
          </a:p>
          <a:p>
            <a:pPr>
              <a:spcAft>
                <a:spcPts val="600"/>
              </a:spcAft>
            </a:pPr>
            <a:r>
              <a:rPr sz="2000">
                <a:solidFill>
                  <a:srgbClr val="1A2744"/>
                </a:solidFill>
                <a:latin typeface="Arial"/>
              </a:rPr>
              <a:t>• Channels want real-time APIs and a better mobile experience</a:t>
            </a:r>
          </a:p>
          <a:p>
            <a:pPr>
              <a:spcAft>
                <a:spcPts val="600"/>
              </a:spcAft>
            </a:pPr>
            <a:r>
              <a:rPr sz="2000">
                <a:solidFill>
                  <a:srgbClr val="1A2744"/>
                </a:solidFill>
                <a:latin typeface="Arial"/>
              </a:rPr>
              <a:t>• The people who know the rules are leaving</a:t>
            </a:r>
          </a:p>
          <a:p>
            <a:pPr>
              <a:spcAft>
                <a:spcPts val="600"/>
              </a:spcAft>
            </a:pPr>
            <a:r>
              <a:rPr sz="2000">
                <a:solidFill>
                  <a:srgbClr val="1A2744"/>
                </a:solidFill>
                <a:latin typeface="Arial"/>
              </a:rPr>
              <a:t>So the bank modernizes </a:t>
            </a:r>
            <a:r>
              <a:rPr b="1" sz="2000">
                <a:solidFill>
                  <a:srgbClr val="1A2744"/>
                </a:solidFill>
                <a:latin typeface="Arial"/>
              </a:rPr>
              <a:t>one capability at a time</a:t>
            </a:r>
            <a:r>
              <a:rPr sz="2000">
                <a:solidFill>
                  <a:srgbClr val="1A2744"/>
                </a:solidFill>
                <a:latin typeface="Arial"/>
              </a:rPr>
              <a:t>, while old and new run side by side.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What Strangler Fig gives you</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 A </a:t>
            </a:r>
            <a:r>
              <a:rPr b="1" sz="2000">
                <a:solidFill>
                  <a:srgbClr val="1A2744"/>
                </a:solidFill>
                <a:latin typeface="Arial"/>
              </a:rPr>
              <a:t>facade</a:t>
            </a:r>
            <a:r>
              <a:rPr sz="2000">
                <a:solidFill>
                  <a:srgbClr val="1A2744"/>
                </a:solidFill>
                <a:latin typeface="Arial"/>
              </a:rPr>
              <a:t> in front of the legacy system</a:t>
            </a:r>
          </a:p>
          <a:p>
            <a:pPr>
              <a:spcAft>
                <a:spcPts val="600"/>
              </a:spcAft>
            </a:pPr>
            <a:r>
              <a:rPr sz="2000">
                <a:solidFill>
                  <a:srgbClr val="1A2744"/>
                </a:solidFill>
                <a:latin typeface="Arial"/>
              </a:rPr>
              <a:t>• </a:t>
            </a:r>
            <a:r>
              <a:rPr b="1" sz="2000">
                <a:solidFill>
                  <a:srgbClr val="1A2744"/>
                </a:solidFill>
                <a:latin typeface="Arial"/>
              </a:rPr>
              <a:t>Routes</a:t>
            </a:r>
            <a:r>
              <a:rPr sz="2000">
                <a:solidFill>
                  <a:srgbClr val="1A2744"/>
                </a:solidFill>
                <a:latin typeface="Arial"/>
              </a:rPr>
              <a:t> that move one operation at a time to a new service</a:t>
            </a:r>
          </a:p>
          <a:p>
            <a:pPr>
              <a:spcAft>
                <a:spcPts val="600"/>
              </a:spcAft>
            </a:pPr>
            <a:r>
              <a:rPr sz="2000">
                <a:solidFill>
                  <a:srgbClr val="1A2744"/>
                </a:solidFill>
                <a:latin typeface="Arial"/>
              </a:rPr>
              <a:t>• A </a:t>
            </a:r>
            <a:r>
              <a:rPr b="1" sz="2000">
                <a:solidFill>
                  <a:srgbClr val="1A2744"/>
                </a:solidFill>
                <a:latin typeface="Arial"/>
              </a:rPr>
              <a:t>rollback</a:t>
            </a:r>
            <a:r>
              <a:rPr sz="2000">
                <a:solidFill>
                  <a:srgbClr val="1A2744"/>
                </a:solidFill>
                <a:latin typeface="Arial"/>
              </a:rPr>
              <a:t> that is a routing change, not a deployment</a:t>
            </a:r>
          </a:p>
          <a:p>
            <a:pPr>
              <a:spcAft>
                <a:spcPts val="600"/>
              </a:spcAft>
            </a:pPr>
            <a:r>
              <a:rPr sz="2000">
                <a:solidFill>
                  <a:srgbClr val="1A2744"/>
                </a:solidFill>
                <a:latin typeface="Arial"/>
              </a:rPr>
              <a:t>What it does not decide:</a:t>
            </a:r>
          </a:p>
          <a:p>
            <a:pPr>
              <a:spcAft>
                <a:spcPts val="600"/>
              </a:spcAft>
            </a:pPr>
            <a:r>
              <a:rPr sz="2000">
                <a:solidFill>
                  <a:srgbClr val="1A2744"/>
                </a:solidFill>
                <a:latin typeface="Arial"/>
              </a:rPr>
              <a:t>• what to extract</a:t>
            </a:r>
          </a:p>
          <a:p>
            <a:pPr>
              <a:spcAft>
                <a:spcPts val="600"/>
              </a:spcAft>
            </a:pPr>
            <a:r>
              <a:rPr sz="2000">
                <a:solidFill>
                  <a:srgbClr val="1A2744"/>
                </a:solidFill>
                <a:latin typeface="Arial"/>
              </a:rPr>
              <a:t>• who owns the data while both systems hold a copy</a:t>
            </a:r>
          </a:p>
          <a:p>
            <a:pPr>
              <a:spcAft>
                <a:spcPts val="600"/>
              </a:spcAft>
            </a:pPr>
            <a:r>
              <a:rPr sz="2000">
                <a:solidFill>
                  <a:srgbClr val="1A2744"/>
                </a:solidFill>
                <a:latin typeface="Arial"/>
              </a:rPr>
              <a:t>• how to prove the new answer equals the old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How the patterns fit together</a:t>
            </a:r>
          </a:p>
        </p:txBody>
      </p:sp>
      <p:pic>
        <p:nvPicPr>
          <p:cNvPr id="3" name="Picture 2" descr="pattern-map.png"/>
          <p:cNvPicPr>
            <a:picLocks noChangeAspect="1"/>
          </p:cNvPicPr>
          <p:nvPr/>
        </p:nvPicPr>
        <p:blipFill>
          <a:blip r:embed="rId2"/>
          <a:stretch>
            <a:fillRect/>
          </a:stretch>
        </p:blipFill>
        <p:spPr>
          <a:xfrm>
            <a:off x="548640" y="1371600"/>
            <a:ext cx="11094415" cy="240567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Twelve patterns, twelve jobs</a:t>
            </a:r>
          </a:p>
        </p:txBody>
      </p:sp>
      <p:graphicFrame>
        <p:nvGraphicFramePr>
          <p:cNvPr id="3" name="Table 2"/>
          <p:cNvGraphicFramePr>
            <a:graphicFrameLocks noGrp="1"/>
          </p:cNvGraphicFramePr>
          <p:nvPr/>
        </p:nvGraphicFramePr>
        <p:xfrm>
          <a:off x="548640" y="1371600"/>
          <a:ext cx="11094415" cy="4023360"/>
        </p:xfrm>
        <a:graphic>
          <a:graphicData uri="http://schemas.openxmlformats.org/drawingml/2006/table">
            <a:tbl>
              <a:tblPr firstRow="1" bandRow="1">
                <a:tableStyleId>{5C22544A-7EE6-4342-B048-85BDC9FD1C3A}</a:tableStyleId>
              </a:tblPr>
              <a:tblGrid>
                <a:gridCol w="5547207"/>
                <a:gridCol w="5547208"/>
              </a:tblGrid>
              <a:tr h="365760">
                <a:tc>
                  <a:txBody>
                    <a:bodyPr/>
                    <a:lstStyle/>
                    <a:p>
                      <a:r>
                        <a:rPr sz="1600" b="1">
                          <a:solidFill>
                            <a:srgbClr val="FFFFFF"/>
                          </a:solidFill>
                          <a:latin typeface="Arial"/>
                        </a:rPr>
                        <a:t>Pattern</a:t>
                      </a:r>
                    </a:p>
                  </a:txBody>
                  <a:tcPr/>
                </a:tc>
                <a:tc>
                  <a:txBody>
                    <a:bodyPr/>
                    <a:lstStyle/>
                    <a:p>
                      <a:r>
                        <a:rPr sz="1600" b="1">
                          <a:solidFill>
                            <a:srgbClr val="FFFFFF"/>
                          </a:solidFill>
                          <a:latin typeface="Arial"/>
                        </a:rPr>
                        <a:t>Job</a:t>
                      </a:r>
                    </a:p>
                  </a:txBody>
                  <a:tcPr/>
                </a:tc>
              </a:tr>
              <a:tr h="365760">
                <a:tc>
                  <a:txBody>
                    <a:bodyPr/>
                    <a:lstStyle/>
                    <a:p>
                      <a:r>
                        <a:rPr sz="1600">
                          <a:solidFill>
                            <a:srgbClr val="1A2744"/>
                          </a:solidFill>
                          <a:latin typeface="Arial"/>
                        </a:rPr>
                        <a:t>Strangler Fig</a:t>
                      </a:r>
                    </a:p>
                  </a:txBody>
                  <a:tcPr/>
                </a:tc>
                <a:tc>
                  <a:txBody>
                    <a:bodyPr/>
                    <a:lstStyle/>
                    <a:p>
                      <a:r>
                        <a:rPr sz="1600">
                          <a:solidFill>
                            <a:srgbClr val="1A2744"/>
                          </a:solidFill>
                          <a:latin typeface="Arial"/>
                        </a:rPr>
                        <a:t>move traffic one capability at a time</a:t>
                      </a:r>
                    </a:p>
                  </a:txBody>
                  <a:tcPr/>
                </a:tc>
              </a:tr>
              <a:tr h="365760">
                <a:tc>
                  <a:txBody>
                    <a:bodyPr/>
                    <a:lstStyle/>
                    <a:p>
                      <a:r>
                        <a:rPr sz="1600">
                          <a:solidFill>
                            <a:srgbClr val="1A2744"/>
                          </a:solidFill>
                          <a:latin typeface="Arial"/>
                        </a:rPr>
                        <a:t>Anti-Corruption Layer</a:t>
                      </a:r>
                    </a:p>
                  </a:txBody>
                  <a:tcPr/>
                </a:tc>
                <a:tc>
                  <a:txBody>
                    <a:bodyPr/>
                    <a:lstStyle/>
                    <a:p>
                      <a:r>
                        <a:rPr sz="1600">
                          <a:solidFill>
                            <a:srgbClr val="1A2744"/>
                          </a:solidFill>
                          <a:latin typeface="Arial"/>
                        </a:rPr>
                        <a:t>translate records, codes and meanings</a:t>
                      </a:r>
                    </a:p>
                  </a:txBody>
                  <a:tcPr/>
                </a:tc>
              </a:tr>
              <a:tr h="365760">
                <a:tc>
                  <a:txBody>
                    <a:bodyPr/>
                    <a:lstStyle/>
                    <a:p>
                      <a:r>
                        <a:rPr sz="1600">
                          <a:solidFill>
                            <a:srgbClr val="1A2744"/>
                          </a:solidFill>
                          <a:latin typeface="Arial"/>
                        </a:rPr>
                        <a:t>Branch by Abstraction</a:t>
                      </a:r>
                    </a:p>
                  </a:txBody>
                  <a:tcPr/>
                </a:tc>
                <a:tc>
                  <a:txBody>
                    <a:bodyPr/>
                    <a:lstStyle/>
                    <a:p>
                      <a:r>
                        <a:rPr sz="1600">
                          <a:solidFill>
                            <a:srgbClr val="1A2744"/>
                          </a:solidFill>
                          <a:latin typeface="Arial"/>
                        </a:rPr>
                        <a:t>swap a module routing can't isolate</a:t>
                      </a:r>
                    </a:p>
                  </a:txBody>
                  <a:tcPr/>
                </a:tc>
              </a:tr>
              <a:tr h="365760">
                <a:tc>
                  <a:txBody>
                    <a:bodyPr/>
                    <a:lstStyle/>
                    <a:p>
                      <a:r>
                        <a:rPr sz="1600">
                          <a:solidFill>
                            <a:srgbClr val="1A2744"/>
                          </a:solidFill>
                          <a:latin typeface="Arial"/>
                        </a:rPr>
                        <a:t>DDD</a:t>
                      </a:r>
                    </a:p>
                  </a:txBody>
                  <a:tcPr/>
                </a:tc>
                <a:tc>
                  <a:txBody>
                    <a:bodyPr/>
                    <a:lstStyle/>
                    <a:p>
                      <a:r>
                        <a:rPr sz="1600">
                          <a:solidFill>
                            <a:srgbClr val="1A2744"/>
                          </a:solidFill>
                          <a:latin typeface="Arial"/>
                        </a:rPr>
                        <a:t>decide what to extract</a:t>
                      </a:r>
                    </a:p>
                  </a:txBody>
                  <a:tcPr/>
                </a:tc>
              </a:tr>
              <a:tr h="365760">
                <a:tc>
                  <a:txBody>
                    <a:bodyPr/>
                    <a:lstStyle/>
                    <a:p>
                      <a:r>
                        <a:rPr sz="1600">
                          <a:solidFill>
                            <a:srgbClr val="1A2744"/>
                          </a:solidFill>
                          <a:latin typeface="Arial"/>
                        </a:rPr>
                        <a:t>CDC + CQRS</a:t>
                      </a:r>
                    </a:p>
                  </a:txBody>
                  <a:tcPr/>
                </a:tc>
                <a:tc>
                  <a:txBody>
                    <a:bodyPr/>
                    <a:lstStyle/>
                    <a:p>
                      <a:r>
                        <a:rPr sz="1600">
                          <a:solidFill>
                            <a:srgbClr val="1A2744"/>
                          </a:solidFill>
                          <a:latin typeface="Arial"/>
                        </a:rPr>
                        <a:t>feed and scale reads, writes stay on the ledger</a:t>
                      </a:r>
                    </a:p>
                  </a:txBody>
                  <a:tcPr/>
                </a:tc>
              </a:tr>
              <a:tr h="365760">
                <a:tc>
                  <a:txBody>
                    <a:bodyPr/>
                    <a:lstStyle/>
                    <a:p>
                      <a:r>
                        <a:rPr sz="1600">
                          <a:solidFill>
                            <a:srgbClr val="1A2744"/>
                          </a:solidFill>
                          <a:latin typeface="Arial"/>
                        </a:rPr>
                        <a:t>Outbox + EDA</a:t>
                      </a:r>
                    </a:p>
                  </a:txBody>
                  <a:tcPr/>
                </a:tc>
                <a:tc>
                  <a:txBody>
                    <a:bodyPr/>
                    <a:lstStyle/>
                    <a:p>
                      <a:r>
                        <a:rPr sz="1600">
                          <a:solidFill>
                            <a:srgbClr val="1A2744"/>
                          </a:solidFill>
                          <a:latin typeface="Arial"/>
                        </a:rPr>
                        <a:t>publish events reliably</a:t>
                      </a:r>
                    </a:p>
                  </a:txBody>
                  <a:tcPr/>
                </a:tc>
              </a:tr>
              <a:tr h="365760">
                <a:tc>
                  <a:txBody>
                    <a:bodyPr/>
                    <a:lstStyle/>
                    <a:p>
                      <a:r>
                        <a:rPr sz="1600">
                          <a:solidFill>
                            <a:srgbClr val="1A2744"/>
                          </a:solidFill>
                          <a:latin typeface="Arial"/>
                        </a:rPr>
                        <a:t>Saga</a:t>
                      </a:r>
                    </a:p>
                  </a:txBody>
                  <a:tcPr/>
                </a:tc>
                <a:tc>
                  <a:txBody>
                    <a:bodyPr/>
                    <a:lstStyle/>
                    <a:p>
                      <a:r>
                        <a:rPr sz="1600">
                          <a:solidFill>
                            <a:srgbClr val="1A2744"/>
                          </a:solidFill>
                          <a:latin typeface="Arial"/>
                        </a:rPr>
                        <a:t>multi-step flows with compensation, never ledger posting</a:t>
                      </a:r>
                    </a:p>
                  </a:txBody>
                  <a:tcPr/>
                </a:tc>
              </a:tr>
              <a:tr h="365760">
                <a:tc>
                  <a:txBody>
                    <a:bodyPr/>
                    <a:lstStyle/>
                    <a:p>
                      <a:r>
                        <a:rPr sz="1600">
                          <a:solidFill>
                            <a:srgbClr val="1A2744"/>
                          </a:solidFill>
                          <a:latin typeface="Arial"/>
                        </a:rPr>
                        <a:t>Parallel Run</a:t>
                      </a:r>
                    </a:p>
                  </a:txBody>
                  <a:tcPr/>
                </a:tc>
                <a:tc>
                  <a:txBody>
                    <a:bodyPr/>
                    <a:lstStyle/>
                    <a:p>
                      <a:r>
                        <a:rPr sz="1600">
                          <a:solidFill>
                            <a:srgbClr val="1A2744"/>
                          </a:solidFill>
                          <a:latin typeface="Arial"/>
                        </a:rPr>
                        <a:t>prove equivalence before cutover</a:t>
                      </a:r>
                    </a:p>
                  </a:txBody>
                  <a:tcPr/>
                </a:tc>
              </a:tr>
              <a:tr h="365760">
                <a:tc>
                  <a:txBody>
                    <a:bodyPr/>
                    <a:lstStyle/>
                    <a:p>
                      <a:r>
                        <a:rPr sz="1600">
                          <a:solidFill>
                            <a:srgbClr val="1A2744"/>
                          </a:solidFill>
                          <a:latin typeface="Arial"/>
                        </a:rPr>
                        <a:t>Hexagonal</a:t>
                      </a:r>
                    </a:p>
                  </a:txBody>
                  <a:tcPr/>
                </a:tc>
                <a:tc>
                  <a:txBody>
                    <a:bodyPr/>
                    <a:lstStyle/>
                    <a:p>
                      <a:r>
                        <a:rPr sz="1600">
                          <a:solidFill>
                            <a:srgbClr val="1A2744"/>
                          </a:solidFill>
                          <a:latin typeface="Arial"/>
                        </a:rPr>
                        <a:t>keep the domain free of the mainframe adapter</a:t>
                      </a:r>
                    </a:p>
                  </a:txBody>
                  <a:tcPr/>
                </a:tc>
              </a:tr>
              <a:tr h="365760">
                <a:tc>
                  <a:txBody>
                    <a:bodyPr/>
                    <a:lstStyle/>
                    <a:p>
                      <a:r>
                        <a:rPr sz="1600">
                          <a:solidFill>
                            <a:srgbClr val="1A2744"/>
                          </a:solidFill>
                          <a:latin typeface="Arial"/>
                        </a:rPr>
                        <a:t>Circuit Breaker + Bulkhead</a:t>
                      </a:r>
                    </a:p>
                  </a:txBody>
                  <a:tcPr/>
                </a:tc>
                <a:tc>
                  <a:txBody>
                    <a:bodyPr/>
                    <a:lstStyle/>
                    <a:p>
                      <a:r>
                        <a:rPr sz="1600">
                          <a:solidFill>
                            <a:srgbClr val="1A2744"/>
                          </a:solidFill>
                          <a:latin typeface="Arial"/>
                        </a:rPr>
                        <a:t>contain failures</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Decide what to extract</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 Event Storming and a context map, not the program list</a:t>
            </a:r>
          </a:p>
          <a:p>
            <a:pPr>
              <a:spcAft>
                <a:spcPts val="600"/>
              </a:spcAft>
            </a:pPr>
            <a:r>
              <a:rPr sz="2000">
                <a:solidFill>
                  <a:srgbClr val="1A2744"/>
                </a:solidFill>
                <a:latin typeface="Arial"/>
              </a:rPr>
              <a:t>• Capabilities: Account Inquiry, Ledger Posting, Interest, Customer</a:t>
            </a:r>
          </a:p>
          <a:p>
            <a:pPr>
              <a:spcAft>
                <a:spcPts val="600"/>
              </a:spcAft>
            </a:pPr>
            <a:r>
              <a:rPr sz="2000">
                <a:solidFill>
                  <a:srgbClr val="1A2744"/>
                </a:solidFill>
                <a:latin typeface="Arial"/>
              </a:rPr>
              <a:t>• </a:t>
            </a:r>
            <a:r>
              <a:rPr b="1" sz="2000">
                <a:solidFill>
                  <a:srgbClr val="1A2744"/>
                </a:solidFill>
                <a:latin typeface="Arial"/>
              </a:rPr>
              <a:t>Ledger posting is the core domain</a:t>
            </a:r>
            <a:r>
              <a:rPr sz="2000">
                <a:solidFill>
                  <a:srgbClr val="1A2744"/>
                </a:solidFill>
                <a:latin typeface="Arial"/>
              </a:rPr>
              <a:t>: usually last to move, or retained</a:t>
            </a:r>
          </a:p>
          <a:p>
            <a:pPr>
              <a:spcAft>
                <a:spcPts val="600"/>
              </a:spcAft>
            </a:pPr>
            <a:r>
              <a:rPr sz="2000">
                <a:solidFill>
                  <a:srgbClr val="1A2744"/>
                </a:solidFill>
                <a:latin typeface="Arial"/>
              </a:rPr>
              <a:t>• Good first candidates: inquiry, notifications, statements</a:t>
            </a:r>
          </a:p>
          <a:p>
            <a:pPr>
              <a:spcAft>
                <a:spcPts val="600"/>
              </a:spcAft>
            </a:pPr>
            <a:r>
              <a:rPr sz="2000">
                <a:solidFill>
                  <a:srgbClr val="1A2744"/>
                </a:solidFill>
                <a:latin typeface="Arial"/>
              </a:rPr>
              <a:t>Avoid one microservice per COBOL program. That reproduces 1980s structure with network latency added.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The anti-corruption layer translates meaning</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 EBCDIC to UTF-8, COMP-3 packed decimal to </a:t>
            </a:r>
            <a:r>
              <a:rPr sz="2000">
                <a:solidFill>
                  <a:srgbClr val="1A2744"/>
                </a:solidFill>
                <a:latin typeface="Courier New"/>
              </a:rPr>
              <a:t>BigDecimal</a:t>
            </a:r>
          </a:p>
          <a:p>
            <a:pPr>
              <a:spcAft>
                <a:spcPts val="600"/>
              </a:spcAft>
            </a:pPr>
            <a:r>
              <a:rPr sz="2000">
                <a:solidFill>
                  <a:srgbClr val="1A2744"/>
                </a:solidFill>
                <a:latin typeface="Arial"/>
              </a:rPr>
              <a:t>• Return codes and abends to domain errors</a:t>
            </a:r>
          </a:p>
          <a:p>
            <a:pPr>
              <a:spcAft>
                <a:spcPts val="600"/>
              </a:spcAft>
            </a:pPr>
            <a:r>
              <a:rPr sz="2000">
                <a:solidFill>
                  <a:srgbClr val="1A2744"/>
                </a:solidFill>
                <a:latin typeface="Arial"/>
              </a:rPr>
              <a:t>• Overloaded fields to explicit types</a:t>
            </a:r>
          </a:p>
          <a:p>
            <a:pPr>
              <a:spcAft>
                <a:spcPts val="600"/>
              </a:spcAft>
            </a:pPr>
            <a:r>
              <a:rPr sz="2000">
                <a:solidFill>
                  <a:srgbClr val="1A2744"/>
                </a:solidFill>
                <a:latin typeface="Arial"/>
              </a:rPr>
              <a:t>• "Balance" means ledger, available or memo-posted, depending on context. The ACL makes that explicit.</a:t>
            </a:r>
          </a:p>
          <a:p>
            <a:pPr>
              <a:spcAft>
                <a:spcPts val="600"/>
              </a:spcAft>
            </a:pPr>
            <a:r>
              <a:rPr sz="2000">
                <a:solidFill>
                  <a:srgbClr val="1A2744"/>
                </a:solidFill>
                <a:latin typeface="Arial"/>
              </a:rPr>
              <a:t>One ACL per bounded context, versioned contracts, no business logic. Retire it with the legacy capability behind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The ACL in code</a:t>
            </a:r>
          </a:p>
        </p:txBody>
      </p:sp>
      <p:sp>
        <p:nvSpPr>
          <p:cNvPr id="3" name="TextBox 2"/>
          <p:cNvSpPr txBox="1"/>
          <p:nvPr/>
        </p:nvSpPr>
        <p:spPr>
          <a:xfrm>
            <a:off x="548640" y="1371600"/>
            <a:ext cx="11094415" cy="4572000"/>
          </a:xfrm>
          <a:prstGeom prst="rect">
            <a:avLst/>
          </a:prstGeom>
          <a:solidFill>
            <a:srgbClr val="F4F6FA"/>
          </a:solidFill>
        </p:spPr>
        <p:txBody>
          <a:bodyPr wrap="none">
            <a:spAutoFit/>
          </a:bodyPr>
          <a:lstStyle/>
          <a:p>
            <a:r>
              <a:rPr sz="1200">
                <a:solidFill>
                  <a:srgbClr val="1A2744"/>
                </a:solidFill>
                <a:latin typeface="Courier New"/>
              </a:rPr>
              <a:t>public AccountLookup translate(byte[] raw) {</a:t>
            </a:r>
          </a:p>
          <a:p>
            <a:r>
              <a:rPr sz="1200">
                <a:solidFill>
                  <a:srgbClr val="1A2744"/>
                </a:solidFill>
                <a:latin typeface="Courier New"/>
              </a:rPr>
              <a:t>    LegacyAccountRecord record = LegacyAccountRecord.parse(raw);</a:t>
            </a:r>
          </a:p>
          <a:p>
            <a:r>
              <a:rPr sz="1200">
                <a:solidFill>
                  <a:srgbClr val="1A2744"/>
                </a:solidFill>
                <a:latin typeface="Courier New"/>
              </a:rPr>
              <a:t>    return switch (record.returnCode()) {</a:t>
            </a:r>
          </a:p>
          <a:p>
            <a:r>
              <a:rPr sz="1200">
                <a:solidFill>
                  <a:srgbClr val="1A2744"/>
                </a:solidFill>
                <a:latin typeface="Courier New"/>
              </a:rPr>
              <a:t>        case OK -&gt; new Found(new AccountBalance(record.accountId(), record.balance(), typeOf(record.typeFlag())));</a:t>
            </a:r>
          </a:p>
          <a:p>
            <a:r>
              <a:rPr sz="1200">
                <a:solidFill>
                  <a:srgbClr val="1A2744"/>
                </a:solidFill>
                <a:latin typeface="Courier New"/>
              </a:rPr>
              <a:t>        case NOT_FOUND -&gt; new NotFound(record.accountId());</a:t>
            </a:r>
          </a:p>
          <a:p>
            <a:r>
              <a:rPr sz="1200">
                <a:solidFill>
                  <a:srgbClr val="1A2744"/>
                </a:solidFill>
                <a:latin typeface="Courier New"/>
              </a:rPr>
              <a:t>        case BLOCKED -&gt; new Blocked(record.accountId());</a:t>
            </a:r>
          </a:p>
          <a:p>
            <a:r>
              <a:rPr sz="1200">
                <a:solidFill>
                  <a:srgbClr val="1A2744"/>
                </a:solidFill>
                <a:latin typeface="Courier New"/>
              </a:rPr>
              <a:t>        default -&gt; throw new LegacyTechnicalException("Legacy return code " + record.returnCode());</a:t>
            </a:r>
          </a:p>
          <a:p>
            <a:r>
              <a:rPr sz="1200">
                <a:solidFill>
                  <a:srgbClr val="1A2744"/>
                </a:solidFill>
                <a:latin typeface="Courier New"/>
              </a:rPr>
              <a:t>    };</a:t>
            </a:r>
          </a:p>
          <a:p>
            <a:r>
              <a:rPr sz="1200">
                <a:solidFill>
                  <a:srgbClr val="1A2744"/>
                </a:solidFill>
                <a:latin typeface="Courier New"/>
              </a:rPr>
              <a:t>}</a:t>
            </a:r>
          </a:p>
          <a:p>
            <a:r>
              <a:rPr sz="1200">
                <a:solidFill>
                  <a:srgbClr val="1A2744"/>
                </a:solidFill>
                <a:latin typeface="Courier New"/>
              </a:rPr>
              <a:t/>
            </a:r>
          </a:p>
          <a:p>
            <a:r>
              <a:rPr sz="1200">
                <a:solidFill>
                  <a:srgbClr val="1A2744"/>
                </a:solidFill>
                <a:latin typeface="Courier New"/>
              </a:rPr>
              <a:t>private static BalanceType typeOf(char flag) {</a:t>
            </a:r>
          </a:p>
          <a:p>
            <a:r>
              <a:rPr sz="1200">
                <a:solidFill>
                  <a:srgbClr val="1A2744"/>
                </a:solidFill>
                <a:latin typeface="Courier New"/>
              </a:rPr>
              <a:t>    return switch (flag) {</a:t>
            </a:r>
          </a:p>
          <a:p>
            <a:r>
              <a:rPr sz="1200">
                <a:solidFill>
                  <a:srgbClr val="1A2744"/>
                </a:solidFill>
                <a:latin typeface="Courier New"/>
              </a:rPr>
              <a:t>        case LEDGER_FLAG -&gt; BalanceType.POSTED;</a:t>
            </a:r>
          </a:p>
          <a:p>
            <a:r>
              <a:rPr sz="1200">
                <a:solidFill>
                  <a:srgbClr val="1A2744"/>
                </a:solidFill>
                <a:latin typeface="Courier New"/>
              </a:rPr>
              <a:t>        case MEMO_POSTED_FLAG -&gt; BalanceType.PENDING;</a:t>
            </a:r>
          </a:p>
          <a:p>
            <a:r>
              <a:rPr sz="1200">
                <a:solidFill>
                  <a:srgbClr val="1A2744"/>
                </a:solidFill>
                <a:latin typeface="Courier New"/>
              </a:rPr>
              <a:t>        default -&gt; throw new LegacyTechnicalException("Unknown record type flag " + flag);</a:t>
            </a:r>
          </a:p>
          <a:p>
            <a:r>
              <a:rPr sz="1200">
                <a:solidFill>
                  <a:srgbClr val="1A2744"/>
                </a:solidFill>
                <a:latin typeface="Courier New"/>
              </a:rPr>
              <a:t>    };</a:t>
            </a:r>
          </a:p>
          <a:p>
            <a:r>
              <a:rPr sz="1200">
                <a:solidFill>
                  <a:srgbClr val="1A2744"/>
                </a:solidFill>
                <a:latin typeface="Courier New"/>
              </a:rPr>
              <a:t>}</a:t>
            </a:r>
          </a:p>
        </p:txBody>
      </p:sp>
      <p:sp>
        <p:nvSpPr>
          <p:cNvPr id="4" name="TextBox 3"/>
          <p:cNvSpPr txBox="1"/>
          <p:nvPr/>
        </p:nvSpPr>
        <p:spPr>
          <a:xfrm>
            <a:off x="548640" y="6035040"/>
            <a:ext cx="11094415" cy="548640"/>
          </a:xfrm>
          <a:prstGeom prst="rect">
            <a:avLst/>
          </a:prstGeom>
          <a:noFill/>
        </p:spPr>
        <p:txBody>
          <a:bodyPr wrap="square">
            <a:spAutoFit/>
          </a:bodyPr>
          <a:lstStyle/>
          <a:p>
            <a:pPr>
              <a:spcAft>
                <a:spcPts val="600"/>
              </a:spcAft>
            </a:pPr>
            <a:r>
              <a:rPr sz="1400">
                <a:solidFill>
                  <a:srgbClr val="1A2744"/>
                </a:solidFill>
                <a:latin typeface="Courier New"/>
              </a:rPr>
              <a:t>examples/account-modernization</a:t>
            </a:r>
            <a:r>
              <a:rPr sz="1400">
                <a:solidFill>
                  <a:srgbClr val="1A2744"/>
                </a:solidFill>
                <a:latin typeface="Arial"/>
              </a:rPr>
              <a:t>, package </a:t>
            </a:r>
            <a:r>
              <a:rPr sz="1400">
                <a:solidFill>
                  <a:srgbClr val="1A2744"/>
                </a:solidFill>
                <a:latin typeface="Courier New"/>
              </a:rPr>
              <a:t>acl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Modernize reads first: CDC and CQRS</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 CDC feeds a read model while the ledger stays authoritative</a:t>
            </a:r>
          </a:p>
          <a:p>
            <a:pPr>
              <a:spcAft>
                <a:spcPts val="600"/>
              </a:spcAft>
            </a:pPr>
            <a:r>
              <a:rPr sz="2000">
                <a:solidFill>
                  <a:srgbClr val="1A2744"/>
                </a:solidFill>
                <a:latin typeface="Arial"/>
              </a:rPr>
              <a:t>• Model </a:t>
            </a:r>
            <a:r>
              <a:rPr b="1" sz="2000">
                <a:solidFill>
                  <a:srgbClr val="1A2744"/>
                </a:solidFill>
                <a:latin typeface="Arial"/>
              </a:rPr>
              <a:t>pending vs posted</a:t>
            </a:r>
            <a:r>
              <a:rPr sz="2000">
                <a:solidFill>
                  <a:srgbClr val="1A2744"/>
                </a:solidFill>
                <a:latin typeface="Arial"/>
              </a:rPr>
              <a:t>: cores memo-post during the day, hard-post at end of day</a:t>
            </a:r>
          </a:p>
          <a:p>
            <a:pPr>
              <a:spcAft>
                <a:spcPts val="600"/>
              </a:spcAft>
            </a:pPr>
            <a:r>
              <a:rPr sz="2000">
                <a:solidFill>
                  <a:srgbClr val="1A2744"/>
                </a:solidFill>
                <a:latin typeface="Arial"/>
              </a:rPr>
              <a:t>• Lag SLO, per-account ordering, dedupe by log position, replay runbook</a:t>
            </a:r>
          </a:p>
          <a:p>
            <a:pPr>
              <a:spcAft>
                <a:spcPts val="600"/>
              </a:spcAft>
            </a:pPr>
            <a:r>
              <a:rPr sz="2000">
                <a:solidFill>
                  <a:srgbClr val="1A2744"/>
                </a:solidFill>
                <a:latin typeface="Arial"/>
              </a:rPr>
              <a:t>• Read-your-own-writes: pending overlay, version token, fallback to legacy</a:t>
            </a:r>
          </a:p>
          <a:p>
            <a:pPr>
              <a:spcAft>
                <a:spcPts val="600"/>
              </a:spcAft>
            </a:pPr>
            <a:r>
              <a:rPr sz="2000">
                <a:solidFill>
                  <a:srgbClr val="1A2744"/>
                </a:solidFill>
                <a:latin typeface="Arial"/>
              </a:rPr>
              <a:t>Check CDC feasibility per data store early: Db2 is mature, VSAM and IMS are harder.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Move data ownership in stages</a:t>
            </a:r>
          </a:p>
        </p:txBody>
      </p:sp>
      <p:pic>
        <p:nvPicPr>
          <p:cNvPr id="3" name="Picture 2" descr="ownership-stages.png"/>
          <p:cNvPicPr>
            <a:picLocks noChangeAspect="1"/>
          </p:cNvPicPr>
          <p:nvPr/>
        </p:nvPicPr>
        <p:blipFill>
          <a:blip r:embed="rId2"/>
          <a:stretch>
            <a:fillRect/>
          </a:stretch>
        </p:blipFill>
        <p:spPr>
          <a:xfrm>
            <a:off x="548640" y="1371600"/>
            <a:ext cx="11094415" cy="1160385"/>
          </a:xfrm>
          <a:prstGeom prst="rect">
            <a:avLst/>
          </a:prstGeom>
        </p:spPr>
      </p:pic>
      <p:sp>
        <p:nvSpPr>
          <p:cNvPr id="4" name="TextBox 3"/>
          <p:cNvSpPr txBox="1"/>
          <p:nvPr/>
        </p:nvSpPr>
        <p:spPr>
          <a:xfrm>
            <a:off x="548640" y="2714865"/>
            <a:ext cx="11094415" cy="3777375"/>
          </a:xfrm>
          <a:prstGeom prst="rect">
            <a:avLst/>
          </a:prstGeom>
          <a:noFill/>
        </p:spPr>
        <p:txBody>
          <a:bodyPr wrap="square">
            <a:spAutoFit/>
          </a:bodyPr>
          <a:lstStyle/>
          <a:p>
            <a:pPr>
              <a:spcAft>
                <a:spcPts val="600"/>
              </a:spcAft>
            </a:pPr>
            <a:r>
              <a:rPr b="1" sz="1800">
                <a:solidFill>
                  <a:srgbClr val="1A2744"/>
                </a:solidFill>
                <a:latin typeface="Arial"/>
              </a:rPr>
              <a:t>Exactly one writer at every stage. Never dual-write from application code.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Publish events you can trust</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 </a:t>
            </a:r>
            <a:r>
              <a:rPr b="1" sz="2000">
                <a:solidFill>
                  <a:srgbClr val="1A2744"/>
                </a:solidFill>
                <a:latin typeface="Arial"/>
              </a:rPr>
              <a:t>Transactional outbox</a:t>
            </a:r>
            <a:r>
              <a:rPr sz="2000">
                <a:solidFill>
                  <a:srgbClr val="1A2744"/>
                </a:solidFill>
                <a:latin typeface="Arial"/>
              </a:rPr>
              <a:t>: business change and event row in one local transaction (on the mainframe: same CICS unit of work)</a:t>
            </a:r>
          </a:p>
          <a:p>
            <a:pPr>
              <a:spcAft>
                <a:spcPts val="600"/>
              </a:spcAft>
            </a:pPr>
            <a:r>
              <a:rPr sz="2000">
                <a:solidFill>
                  <a:srgbClr val="1A2744"/>
                </a:solidFill>
                <a:latin typeface="Arial"/>
              </a:rPr>
              <a:t>• Relay by polling or log tailing, delivery is at least once</a:t>
            </a:r>
          </a:p>
          <a:p>
            <a:pPr>
              <a:spcAft>
                <a:spcPts val="600"/>
              </a:spcAft>
            </a:pPr>
            <a:r>
              <a:rPr sz="2000">
                <a:solidFill>
                  <a:srgbClr val="1A2744"/>
                </a:solidFill>
                <a:latin typeface="Arial"/>
              </a:rPr>
              <a:t>• </a:t>
            </a:r>
            <a:r>
              <a:rPr b="1" sz="2000">
                <a:solidFill>
                  <a:srgbClr val="1A2744"/>
                </a:solidFill>
                <a:latin typeface="Arial"/>
              </a:rPr>
              <a:t>Idempotent consumer</a:t>
            </a:r>
            <a:r>
              <a:rPr sz="2000">
                <a:solidFill>
                  <a:srgbClr val="1A2744"/>
                </a:solidFill>
                <a:latin typeface="Arial"/>
              </a:rPr>
              <a:t>: an inbox table keyed by event id</a:t>
            </a:r>
          </a:p>
          <a:p>
            <a:pPr>
              <a:spcAft>
                <a:spcPts val="600"/>
              </a:spcAft>
            </a:pPr>
            <a:r>
              <a:rPr sz="2000">
                <a:solidFill>
                  <a:srgbClr val="1A2744"/>
                </a:solidFill>
                <a:latin typeface="Arial"/>
              </a:rPr>
              <a:t>• Partition by account id for ordering; schema registry; DLQ with a runbook</a:t>
            </a:r>
          </a:p>
          <a:p>
            <a:pPr>
              <a:spcAft>
                <a:spcPts val="600"/>
              </a:spcAft>
            </a:pPr>
            <a:r>
              <a:rPr sz="2000">
                <a:solidFill>
                  <a:srgbClr val="1A2744"/>
                </a:solidFill>
                <a:latin typeface="Arial"/>
              </a:rPr>
              <a:t>• Keep personal data out of events, or crypto-shred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Prove it before you route it</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 Run legacy and new on the same inputs, serve legacy, compare</a:t>
            </a:r>
          </a:p>
          <a:p>
            <a:pPr>
              <a:spcAft>
                <a:spcPts val="600"/>
              </a:spcAft>
            </a:pPr>
            <a:r>
              <a:rPr sz="2000">
                <a:solidFill>
                  <a:srgbClr val="1A2744"/>
                </a:solidFill>
                <a:latin typeface="Arial"/>
              </a:rPr>
              <a:t>• Tolerance rules, field mapping, known-difference allowlist, triage workflow</a:t>
            </a:r>
          </a:p>
          <a:p>
            <a:pPr>
              <a:spcAft>
                <a:spcPts val="600"/>
              </a:spcAft>
            </a:pPr>
            <a:r>
              <a:rPr sz="2000">
                <a:solidFill>
                  <a:srgbClr val="1A2744"/>
                </a:solidFill>
                <a:latin typeface="Arial"/>
              </a:rPr>
              <a:t>• Usual false mismatches: rounding mode, day count, business vs system date</a:t>
            </a:r>
          </a:p>
          <a:p>
            <a:pPr>
              <a:spcAft>
                <a:spcPts val="600"/>
              </a:spcAft>
            </a:pPr>
            <a:r>
              <a:rPr sz="2000">
                <a:solidFill>
                  <a:srgbClr val="1A2744"/>
                </a:solidFill>
                <a:latin typeface="Arial"/>
              </a:rPr>
              <a:t>• Shadow side effects off </a:t>
            </a:r>
            <a:r>
              <a:rPr b="1" sz="2000">
                <a:solidFill>
                  <a:srgbClr val="1A2744"/>
                </a:solidFill>
                <a:latin typeface="Arial"/>
              </a:rPr>
              <a:t>by configuration</a:t>
            </a:r>
            <a:r>
              <a:rPr sz="2000">
                <a:solidFill>
                  <a:srgbClr val="1A2744"/>
                </a:solidFill>
                <a:latin typeface="Arial"/>
              </a:rPr>
              <a:t>, not by convention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From shadow to decommission</a:t>
            </a:r>
          </a:p>
        </p:txBody>
      </p:sp>
      <p:pic>
        <p:nvPicPr>
          <p:cNvPr id="3" name="Picture 2" descr="rollout-stages.png"/>
          <p:cNvPicPr>
            <a:picLocks noChangeAspect="1"/>
          </p:cNvPicPr>
          <p:nvPr/>
        </p:nvPicPr>
        <p:blipFill>
          <a:blip r:embed="rId2"/>
          <a:stretch>
            <a:fillRect/>
          </a:stretch>
        </p:blipFill>
        <p:spPr>
          <a:xfrm>
            <a:off x="548640" y="1371600"/>
            <a:ext cx="11094415" cy="891515"/>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A timeout is an unknown outcome</a:t>
            </a:r>
          </a:p>
        </p:txBody>
      </p:sp>
      <p:pic>
        <p:nvPicPr>
          <p:cNvPr id="3" name="Picture 2" descr="unknown-outcome.png"/>
          <p:cNvPicPr>
            <a:picLocks noChangeAspect="1"/>
          </p:cNvPicPr>
          <p:nvPr/>
        </p:nvPicPr>
        <p:blipFill>
          <a:blip r:embed="rId2"/>
          <a:stretch>
            <a:fillRect/>
          </a:stretch>
        </p:blipFill>
        <p:spPr>
          <a:xfrm>
            <a:off x="3795410" y="1371600"/>
            <a:ext cx="4600875" cy="42062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Unknown outcome in code</a:t>
            </a:r>
          </a:p>
        </p:txBody>
      </p:sp>
      <p:sp>
        <p:nvSpPr>
          <p:cNvPr id="3" name="TextBox 2"/>
          <p:cNvSpPr txBox="1"/>
          <p:nvPr/>
        </p:nvSpPr>
        <p:spPr>
          <a:xfrm>
            <a:off x="548640" y="1371600"/>
            <a:ext cx="11094415" cy="4572000"/>
          </a:xfrm>
          <a:prstGeom prst="rect">
            <a:avLst/>
          </a:prstGeom>
          <a:solidFill>
            <a:srgbClr val="F4F6FA"/>
          </a:solidFill>
        </p:spPr>
        <p:txBody>
          <a:bodyPr wrap="none">
            <a:spAutoFit/>
          </a:bodyPr>
          <a:lstStyle/>
          <a:p>
            <a:r>
              <a:rPr sz="1200">
                <a:solidFill>
                  <a:srgbClr val="1A2744"/>
                </a:solidFill>
                <a:latin typeface="Courier New"/>
              </a:rPr>
              <a:t>public PostingResult post(PostingRequest request) {</a:t>
            </a:r>
          </a:p>
          <a:p>
            <a:r>
              <a:rPr sz="1200">
                <a:solidFill>
                  <a:srgbClr val="1A2744"/>
                </a:solidFill>
                <a:latin typeface="Courier New"/>
              </a:rPr>
              <a:t>    try {</a:t>
            </a:r>
          </a:p>
          <a:p>
            <a:r>
              <a:rPr sz="1200">
                <a:solidFill>
                  <a:srgbClr val="1A2744"/>
                </a:solidFill>
                <a:latin typeface="Courier New"/>
              </a:rPr>
              <a:t>        return gateway.post(request);</a:t>
            </a:r>
          </a:p>
          <a:p>
            <a:r>
              <a:rPr sz="1200">
                <a:solidFill>
                  <a:srgbClr val="1A2744"/>
                </a:solidFill>
                <a:latin typeface="Courier New"/>
              </a:rPr>
              <a:t>    } catch (PostingTimeoutException timeout) {</a:t>
            </a:r>
          </a:p>
          <a:p>
            <a:r>
              <a:rPr sz="1200">
                <a:solidFill>
                  <a:srgbClr val="1A2744"/>
                </a:solidFill>
                <a:latin typeface="Courier New"/>
              </a:rPr>
              <a:t>        return resolveUnknownOutcome(request);</a:t>
            </a:r>
          </a:p>
          <a:p>
            <a:r>
              <a:rPr sz="1200">
                <a:solidFill>
                  <a:srgbClr val="1A2744"/>
                </a:solidFill>
                <a:latin typeface="Courier New"/>
              </a:rPr>
              <a:t>    }</a:t>
            </a:r>
          </a:p>
          <a:p>
            <a:r>
              <a:rPr sz="1200">
                <a:solidFill>
                  <a:srgbClr val="1A2744"/>
                </a:solidFill>
                <a:latin typeface="Courier New"/>
              </a:rPr>
              <a:t>}</a:t>
            </a:r>
          </a:p>
          <a:p>
            <a:r>
              <a:rPr sz="1200">
                <a:solidFill>
                  <a:srgbClr val="1A2744"/>
                </a:solidFill>
                <a:latin typeface="Courier New"/>
              </a:rPr>
              <a:t/>
            </a:r>
          </a:p>
          <a:p>
            <a:r>
              <a:rPr sz="1200">
                <a:solidFill>
                  <a:srgbClr val="1A2744"/>
                </a:solidFill>
                <a:latin typeface="Courier New"/>
              </a:rPr>
              <a:t>private PostingResult resolveUnknownOutcome(PostingRequest request) {</a:t>
            </a:r>
          </a:p>
          <a:p>
            <a:r>
              <a:rPr sz="1200">
                <a:solidFill>
                  <a:srgbClr val="1A2744"/>
                </a:solidFill>
                <a:latin typeface="Courier New"/>
              </a:rPr>
              <a:t>    Optional&lt;PostingResult&gt; alreadyPosted = lookup(request);</a:t>
            </a:r>
          </a:p>
          <a:p>
            <a:r>
              <a:rPr sz="1200">
                <a:solidFill>
                  <a:srgbClr val="1A2744"/>
                </a:solidFill>
                <a:latin typeface="Courier New"/>
              </a:rPr>
              <a:t>    if (alreadyPosted.isPresent()) {</a:t>
            </a:r>
          </a:p>
          <a:p>
            <a:r>
              <a:rPr sz="1200">
                <a:solidFill>
                  <a:srgbClr val="1A2744"/>
                </a:solidFill>
                <a:latin typeface="Courier New"/>
              </a:rPr>
              <a:t>        return alreadyPosted.get();</a:t>
            </a:r>
          </a:p>
          <a:p>
            <a:r>
              <a:rPr sz="1200">
                <a:solidFill>
                  <a:srgbClr val="1A2744"/>
                </a:solidFill>
                <a:latin typeface="Courier New"/>
              </a:rPr>
              <a:t>    }</a:t>
            </a:r>
          </a:p>
          <a:p>
            <a:r>
              <a:rPr sz="1200">
                <a:solidFill>
                  <a:srgbClr val="1A2744"/>
                </a:solidFill>
                <a:latin typeface="Courier New"/>
              </a:rPr>
              <a:t>    try {</a:t>
            </a:r>
          </a:p>
          <a:p>
            <a:r>
              <a:rPr sz="1200">
                <a:solidFill>
                  <a:srgbClr val="1A2744"/>
                </a:solidFill>
                <a:latin typeface="Courier New"/>
              </a:rPr>
              <a:t>        return gateway.post(request);</a:t>
            </a:r>
          </a:p>
          <a:p>
            <a:r>
              <a:rPr sz="1200">
                <a:solidFill>
                  <a:srgbClr val="1A2744"/>
                </a:solidFill>
                <a:latin typeface="Courier New"/>
              </a:rPr>
              <a:t>    } catch (PostingTimeoutException timeout) {</a:t>
            </a:r>
          </a:p>
          <a:p>
            <a:r>
              <a:rPr sz="1200">
                <a:solidFill>
                  <a:srgbClr val="1A2744"/>
                </a:solidFill>
                <a:latin typeface="Courier New"/>
              </a:rPr>
              <a:t>        return lookup(request).orElseGet(() -&gt; park(request));</a:t>
            </a:r>
          </a:p>
          <a:p>
            <a:r>
              <a:rPr sz="1200">
                <a:solidFill>
                  <a:srgbClr val="1A2744"/>
                </a:solidFill>
                <a:latin typeface="Courier New"/>
              </a:rPr>
              <a:t>    }</a:t>
            </a:r>
          </a:p>
          <a:p>
            <a:r>
              <a:rPr sz="1200">
                <a:solidFill>
                  <a:srgbClr val="1A2744"/>
                </a:solidFill>
                <a:latin typeface="Courier New"/>
              </a:rPr>
              <a:t>}</a:t>
            </a:r>
          </a:p>
        </p:txBody>
      </p:sp>
      <p:sp>
        <p:nvSpPr>
          <p:cNvPr id="4" name="TextBox 3"/>
          <p:cNvSpPr txBox="1"/>
          <p:nvPr/>
        </p:nvSpPr>
        <p:spPr>
          <a:xfrm>
            <a:off x="548640" y="6035040"/>
            <a:ext cx="11094415" cy="548640"/>
          </a:xfrm>
          <a:prstGeom prst="rect">
            <a:avLst/>
          </a:prstGeom>
          <a:noFill/>
        </p:spPr>
        <p:txBody>
          <a:bodyPr wrap="square">
            <a:spAutoFit/>
          </a:bodyPr>
          <a:lstStyle/>
          <a:p>
            <a:pPr>
              <a:spcAft>
                <a:spcPts val="600"/>
              </a:spcAft>
            </a:pPr>
            <a:r>
              <a:rPr sz="1400">
                <a:solidFill>
                  <a:srgbClr val="1A2744"/>
                </a:solidFill>
                <a:latin typeface="Courier New"/>
              </a:rPr>
              <a:t>examples/account-modernization</a:t>
            </a:r>
            <a:r>
              <a:rPr sz="1400">
                <a:solidFill>
                  <a:srgbClr val="1A2744"/>
                </a:solidFill>
                <a:latin typeface="Arial"/>
              </a:rPr>
              <a:t>, package </a:t>
            </a:r>
            <a:r>
              <a:rPr sz="1400">
                <a:solidFill>
                  <a:srgbClr val="1A2744"/>
                </a:solidFill>
                <a:latin typeface="Courier New"/>
              </a:rPr>
              <a:t>posting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Coordinate multi-step flows with sagas</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 Loan origination, onboarding and KYC: orchestration over choreography</a:t>
            </a:r>
          </a:p>
          <a:p>
            <a:pPr>
              <a:spcAft>
                <a:spcPts val="600"/>
              </a:spcAft>
            </a:pPr>
            <a:r>
              <a:rPr sz="2000">
                <a:solidFill>
                  <a:srgbClr val="1A2744"/>
                </a:solidFill>
                <a:latin typeface="Arial"/>
              </a:rPr>
              <a:t>• Compensation is a </a:t>
            </a:r>
            <a:r>
              <a:rPr b="1" sz="2000">
                <a:solidFill>
                  <a:srgbClr val="1A2744"/>
                </a:solidFill>
                <a:latin typeface="Arial"/>
              </a:rPr>
              <a:t>reversal entry</a:t>
            </a:r>
            <a:r>
              <a:rPr sz="2000">
                <a:solidFill>
                  <a:srgbClr val="1A2744"/>
                </a:solidFill>
                <a:latin typeface="Arial"/>
              </a:rPr>
              <a:t>, not a rollback. Accounting never deletes</a:t>
            </a:r>
          </a:p>
          <a:p>
            <a:pPr>
              <a:spcAft>
                <a:spcPts val="600"/>
              </a:spcAft>
            </a:pPr>
            <a:r>
              <a:rPr sz="2000">
                <a:solidFill>
                  <a:srgbClr val="1A2744"/>
                </a:solidFill>
                <a:latin typeface="Arial"/>
              </a:rPr>
              <a:t>• Design the pivot step: irreversible and customer-visible actions after it</a:t>
            </a:r>
          </a:p>
          <a:p>
            <a:pPr>
              <a:spcAft>
                <a:spcPts val="600"/>
              </a:spcAft>
            </a:pPr>
            <a:r>
              <a:rPr sz="2000">
                <a:solidFill>
                  <a:srgbClr val="1A2744"/>
                </a:solidFill>
                <a:latin typeface="Arial"/>
              </a:rPr>
              <a:t>• Semantic locks (</a:t>
            </a:r>
            <a:r>
              <a:rPr sz="2000">
                <a:solidFill>
                  <a:srgbClr val="1A2744"/>
                </a:solidFill>
                <a:latin typeface="Courier New"/>
              </a:rPr>
              <a:t>PENDING_APPROVAL</a:t>
            </a:r>
            <a:r>
              <a:rPr sz="2000">
                <a:solidFill>
                  <a:srgbClr val="1A2744"/>
                </a:solidFill>
                <a:latin typeface="Arial"/>
              </a:rPr>
              <a:t>) because sagas have no isolation</a:t>
            </a:r>
          </a:p>
          <a:p>
            <a:pPr>
              <a:spcAft>
                <a:spcPts val="600"/>
              </a:spcAft>
            </a:pPr>
            <a:r>
              <a:rPr sz="2000">
                <a:solidFill>
                  <a:srgbClr val="1A2744"/>
                </a:solidFill>
                <a:latin typeface="Arial"/>
              </a:rPr>
              <a:t>Not a substitute for atomic ledger posting.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Seven phases, each with an exit criterion</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1. </a:t>
            </a:r>
            <a:r>
              <a:rPr b="1" sz="2000">
                <a:solidFill>
                  <a:srgbClr val="1A2744"/>
                </a:solidFill>
                <a:latin typeface="Arial"/>
              </a:rPr>
              <a:t>Discover</a:t>
            </a:r>
            <a:r>
              <a:rPr sz="2000">
                <a:solidFill>
                  <a:srgbClr val="1A2744"/>
                </a:solidFill>
                <a:latin typeface="Arial"/>
              </a:rPr>
              <a:t>: contexts agreed, first capability picked, baseline metrics</a:t>
            </a:r>
          </a:p>
          <a:p>
            <a:pPr>
              <a:spcAft>
                <a:spcPts val="600"/>
              </a:spcAft>
            </a:pPr>
            <a:r>
              <a:rPr sz="2000">
                <a:solidFill>
                  <a:srgbClr val="1A2744"/>
                </a:solidFill>
                <a:latin typeface="Arial"/>
              </a:rPr>
              <a:t>2. </a:t>
            </a:r>
            <a:r>
              <a:rPr b="1" sz="2000">
                <a:solidFill>
                  <a:srgbClr val="1A2744"/>
                </a:solidFill>
                <a:latin typeface="Arial"/>
              </a:rPr>
              <a:t>Encapsulate</a:t>
            </a:r>
            <a:r>
              <a:rPr sz="2000">
                <a:solidFill>
                  <a:srgbClr val="1A2744"/>
                </a:solidFill>
                <a:latin typeface="Arial"/>
              </a:rPr>
              <a:t>: ACL plus facade as pass-through, correlation IDs</a:t>
            </a:r>
          </a:p>
          <a:p>
            <a:pPr>
              <a:spcAft>
                <a:spcPts val="600"/>
              </a:spcAft>
            </a:pPr>
            <a:r>
              <a:rPr sz="2000">
                <a:solidFill>
                  <a:srgbClr val="1A2744"/>
                </a:solidFill>
                <a:latin typeface="Arial"/>
              </a:rPr>
              <a:t>3. </a:t>
            </a:r>
            <a:r>
              <a:rPr b="1" sz="2000">
                <a:solidFill>
                  <a:srgbClr val="1A2744"/>
                </a:solidFill>
                <a:latin typeface="Arial"/>
              </a:rPr>
              <a:t>Build the read side</a:t>
            </a:r>
            <a:r>
              <a:rPr sz="2000">
                <a:solidFill>
                  <a:srgbClr val="1A2744"/>
                </a:solidFill>
                <a:latin typeface="Arial"/>
              </a:rPr>
              <a:t>: CDC, read model, lag SLO, fallback</a:t>
            </a:r>
          </a:p>
          <a:p>
            <a:pPr>
              <a:spcAft>
                <a:spcPts val="600"/>
              </a:spcAft>
            </a:pPr>
            <a:r>
              <a:rPr sz="2000">
                <a:solidFill>
                  <a:srgbClr val="1A2744"/>
                </a:solidFill>
                <a:latin typeface="Arial"/>
              </a:rPr>
              <a:t>4. </a:t>
            </a:r>
            <a:r>
              <a:rPr b="1" sz="2000">
                <a:solidFill>
                  <a:srgbClr val="1A2744"/>
                </a:solidFill>
                <a:latin typeface="Arial"/>
              </a:rPr>
              <a:t>Prove</a:t>
            </a:r>
            <a:r>
              <a:rPr sz="2000">
                <a:solidFill>
                  <a:srgbClr val="1A2744"/>
                </a:solidFill>
                <a:latin typeface="Arial"/>
              </a:rPr>
              <a:t>: parallel run, mismatches explained and signed off</a:t>
            </a:r>
          </a:p>
          <a:p>
            <a:pPr>
              <a:spcAft>
                <a:spcPts val="600"/>
              </a:spcAft>
            </a:pPr>
            <a:r>
              <a:rPr sz="2000">
                <a:solidFill>
                  <a:srgbClr val="1A2744"/>
                </a:solidFill>
                <a:latin typeface="Arial"/>
              </a:rPr>
              <a:t>5. </a:t>
            </a:r>
            <a:r>
              <a:rPr b="1" sz="2000">
                <a:solidFill>
                  <a:srgbClr val="1A2744"/>
                </a:solidFill>
                <a:latin typeface="Arial"/>
              </a:rPr>
              <a:t>Shift reads</a:t>
            </a:r>
            <a:r>
              <a:rPr sz="2000">
                <a:solidFill>
                  <a:srgbClr val="1A2744"/>
                </a:solidFill>
                <a:latin typeface="Arial"/>
              </a:rPr>
              <a:t>: canary to 100%, rollback tested</a:t>
            </a:r>
          </a:p>
          <a:p>
            <a:pPr>
              <a:spcAft>
                <a:spcPts val="600"/>
              </a:spcAft>
            </a:pPr>
            <a:r>
              <a:rPr sz="2000">
                <a:solidFill>
                  <a:srgbClr val="1A2744"/>
                </a:solidFill>
                <a:latin typeface="Arial"/>
              </a:rPr>
              <a:t>6. </a:t>
            </a:r>
            <a:r>
              <a:rPr b="1" sz="2000">
                <a:solidFill>
                  <a:srgbClr val="1A2744"/>
                </a:solidFill>
                <a:latin typeface="Arial"/>
              </a:rPr>
              <a:t>Extend</a:t>
            </a:r>
            <a:r>
              <a:rPr sz="2000">
                <a:solidFill>
                  <a:srgbClr val="1A2744"/>
                </a:solidFill>
                <a:latin typeface="Arial"/>
              </a:rPr>
              <a:t>: outbox events, replaced calculations</a:t>
            </a:r>
          </a:p>
          <a:p>
            <a:pPr>
              <a:spcAft>
                <a:spcPts val="600"/>
              </a:spcAft>
            </a:pPr>
            <a:r>
              <a:rPr sz="2000">
                <a:solidFill>
                  <a:srgbClr val="1A2744"/>
                </a:solidFill>
                <a:latin typeface="Arial"/>
              </a:rPr>
              <a:t>7. </a:t>
            </a:r>
            <a:r>
              <a:rPr b="1" sz="2000">
                <a:solidFill>
                  <a:srgbClr val="1A2744"/>
                </a:solidFill>
                <a:latin typeface="Arial"/>
              </a:rPr>
              <a:t>Decommission</a:t>
            </a:r>
            <a:r>
              <a:rPr sz="2000">
                <a:solidFill>
                  <a:srgbClr val="1A2744"/>
                </a:solidFill>
                <a:latin typeface="Arial"/>
              </a:rPr>
              <a:t>: clean reconciliation, audit evidence, sign-off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Anti-patterns to call out early</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 Distributed monolith, one service per COBOL program</a:t>
            </a:r>
          </a:p>
          <a:p>
            <a:pPr>
              <a:spcAft>
                <a:spcPts val="600"/>
              </a:spcAft>
            </a:pPr>
            <a:r>
              <a:rPr sz="2000">
                <a:solidFill>
                  <a:srgbClr val="1A2744"/>
                </a:solidFill>
                <a:latin typeface="Arial"/>
              </a:rPr>
              <a:t>• Dual writes from application code</a:t>
            </a:r>
          </a:p>
          <a:p>
            <a:pPr>
              <a:spcAft>
                <a:spcPts val="600"/>
              </a:spcAft>
            </a:pPr>
            <a:r>
              <a:rPr sz="2000">
                <a:solidFill>
                  <a:srgbClr val="1A2744"/>
                </a:solidFill>
                <a:latin typeface="Arial"/>
              </a:rPr>
              <a:t>• New services reading legacy tables directly</a:t>
            </a:r>
          </a:p>
          <a:p>
            <a:pPr>
              <a:spcAft>
                <a:spcPts val="600"/>
              </a:spcAft>
            </a:pPr>
            <a:r>
              <a:rPr sz="2000">
                <a:solidFill>
                  <a:srgbClr val="1A2744"/>
                </a:solidFill>
                <a:latin typeface="Arial"/>
              </a:rPr>
              <a:t>• Ledger first</a:t>
            </a:r>
          </a:p>
          <a:p>
            <a:pPr>
              <a:spcAft>
                <a:spcPts val="600"/>
              </a:spcAft>
            </a:pPr>
            <a:r>
              <a:rPr sz="2000">
                <a:solidFill>
                  <a:srgbClr val="1A2744"/>
                </a:solidFill>
                <a:latin typeface="Arial"/>
              </a:rPr>
              <a:t>• Perpetual strangler: no decommission criteria</a:t>
            </a:r>
          </a:p>
          <a:p>
            <a:pPr>
              <a:spcAft>
                <a:spcPts val="600"/>
              </a:spcAft>
            </a:pPr>
            <a:r>
              <a:rPr sz="2000">
                <a:solidFill>
                  <a:srgbClr val="1A2744"/>
                </a:solidFill>
                <a:latin typeface="Arial"/>
              </a:rPr>
              <a:t>• Big-bang data migration disguised as incremental</a:t>
            </a:r>
          </a:p>
          <a:p>
            <a:pPr>
              <a:spcAft>
                <a:spcPts val="600"/>
              </a:spcAft>
            </a:pPr>
            <a:r>
              <a:rPr sz="2000">
                <a:solidFill>
                  <a:srgbClr val="1A2744"/>
                </a:solidFill>
                <a:latin typeface="Arial"/>
              </a:rPr>
              <a:t>• Leaky ACL: legacy names and codes in new APIs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Where the architect adds value</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 Pick the pattern for the problem, avoid pattern-driven overengineering</a:t>
            </a:r>
          </a:p>
          <a:p>
            <a:pPr>
              <a:spcAft>
                <a:spcPts val="600"/>
              </a:spcAft>
            </a:pPr>
            <a:r>
              <a:rPr sz="2000">
                <a:solidFill>
                  <a:srgbClr val="1A2744"/>
                </a:solidFill>
                <a:latin typeface="Arial"/>
              </a:rPr>
              <a:t>• Own data ownership, transaction semantics and cutover gates</a:t>
            </a:r>
          </a:p>
          <a:p>
            <a:pPr>
              <a:spcAft>
                <a:spcPts val="600"/>
              </a:spcAft>
            </a:pPr>
            <a:r>
              <a:rPr sz="2000">
                <a:solidFill>
                  <a:srgbClr val="1A2744"/>
                </a:solidFill>
                <a:latin typeface="Arial"/>
              </a:rPr>
              <a:t>• Record decisions as ADRs: auditors ask why, years later</a:t>
            </a:r>
          </a:p>
          <a:p>
            <a:pPr>
              <a:spcAft>
                <a:spcPts val="600"/>
              </a:spcAft>
            </a:pPr>
            <a:r>
              <a:rPr sz="2000">
                <a:solidFill>
                  <a:srgbClr val="1A2744"/>
                </a:solidFill>
                <a:latin typeface="Arial"/>
              </a:rPr>
              <a:t>• Align with DORA, BCBS 239 and PCI DSS; plan exit strategies</a:t>
            </a:r>
          </a:p>
          <a:p>
            <a:pPr>
              <a:spcAft>
                <a:spcPts val="600"/>
              </a:spcAft>
            </a:pPr>
            <a:r>
              <a:rPr sz="2000">
                <a:solidFill>
                  <a:srgbClr val="1A2744"/>
                </a:solidFill>
                <a:latin typeface="Arial"/>
              </a:rPr>
              <a:t>• Model the cost of coexistence: usually the most expensive period</a:t>
            </a:r>
          </a:p>
          <a:p>
            <a:pPr>
              <a:spcAft>
                <a:spcPts val="600"/>
              </a:spcAft>
            </a:pPr>
            <a:r>
              <a:rPr sz="2000">
                <a:solidFill>
                  <a:srgbClr val="1A2744"/>
                </a:solidFill>
                <a:latin typeface="Arial"/>
              </a:rPr>
              <a:t>• Decide what stays on the mainframe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Where AI helps, and where it must not decide</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b="1" sz="2000">
                <a:solidFill>
                  <a:srgbClr val="1A2744"/>
                </a:solidFill>
                <a:latin typeface="Arial"/>
              </a:rPr>
              <a:t>Helps:</a:t>
            </a:r>
            <a:r>
              <a:rPr sz="2000">
                <a:solidFill>
                  <a:srgbClr val="1A2744"/>
                </a:solidFill>
                <a:latin typeface="Arial"/>
              </a:rPr>
              <a:t> dependency discovery, candidate rule extraction, copybook to schema mapping, characterization test candidates, parallel-run mismatch clustering, documentation recovery.</a:t>
            </a:r>
          </a:p>
          <a:p>
            <a:pPr>
              <a:spcAft>
                <a:spcPts val="600"/>
              </a:spcAft>
            </a:pPr>
            <a:r>
              <a:rPr b="1" sz="2000">
                <a:solidFill>
                  <a:srgbClr val="1A2744"/>
                </a:solidFill>
                <a:latin typeface="Arial"/>
              </a:rPr>
              <a:t>Guardrails:</a:t>
            </a:r>
            <a:r>
              <a:rPr sz="2000">
                <a:solidFill>
                  <a:srgbClr val="1A2744"/>
                </a:solidFill>
                <a:latin typeface="Arial"/>
              </a:rPr>
              <a:t> every rule cites program and line, generated tests are checked against real legacy output, approved deployment models for source code, no line-by-line COBOL-to-Java transliteration.</a:t>
            </a:r>
          </a:p>
          <a:p>
            <a:pPr>
              <a:spcAft>
                <a:spcPts val="600"/>
              </a:spcAft>
            </a:pPr>
            <a:r>
              <a:rPr sz="2000">
                <a:solidFill>
                  <a:srgbClr val="1A2744"/>
                </a:solidFill>
                <a:latin typeface="Arial"/>
              </a:rPr>
              <a:t>AI proposes, deterministic tooling verifies, people approve.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Pattern shortcuts</a:t>
            </a:r>
          </a:p>
        </p:txBody>
      </p:sp>
      <p:graphicFrame>
        <p:nvGraphicFramePr>
          <p:cNvPr id="3" name="Table 2"/>
          <p:cNvGraphicFramePr>
            <a:graphicFrameLocks noGrp="1"/>
          </p:cNvGraphicFramePr>
          <p:nvPr/>
        </p:nvGraphicFramePr>
        <p:xfrm>
          <a:off x="548640" y="1371600"/>
          <a:ext cx="11094415" cy="2926080"/>
        </p:xfrm>
        <a:graphic>
          <a:graphicData uri="http://schemas.openxmlformats.org/drawingml/2006/table">
            <a:tbl>
              <a:tblPr firstRow="1" bandRow="1">
                <a:tableStyleId>{5C22544A-7EE6-4342-B048-85BDC9FD1C3A}</a:tableStyleId>
              </a:tblPr>
              <a:tblGrid>
                <a:gridCol w="5547207"/>
                <a:gridCol w="5547208"/>
              </a:tblGrid>
              <a:tr h="365760">
                <a:tc>
                  <a:txBody>
                    <a:bodyPr/>
                    <a:lstStyle/>
                    <a:p>
                      <a:r>
                        <a:rPr sz="1600" b="1">
                          <a:solidFill>
                            <a:srgbClr val="FFFFFF"/>
                          </a:solidFill>
                          <a:latin typeface="Arial"/>
                        </a:rPr>
                        <a:t>Goal</a:t>
                      </a:r>
                    </a:p>
                  </a:txBody>
                  <a:tcPr/>
                </a:tc>
                <a:tc>
                  <a:txBody>
                    <a:bodyPr/>
                    <a:lstStyle/>
                    <a:p>
                      <a:r>
                        <a:rPr sz="1600" b="1">
                          <a:solidFill>
                            <a:srgbClr val="FFFFFF"/>
                          </a:solidFill>
                          <a:latin typeface="Arial"/>
                        </a:rPr>
                        <a:t>Patterns</a:t>
                      </a:r>
                    </a:p>
                  </a:txBody>
                  <a:tcPr/>
                </a:tc>
              </a:tr>
              <a:tr h="365760">
                <a:tc>
                  <a:txBody>
                    <a:bodyPr/>
                    <a:lstStyle/>
                    <a:p>
                      <a:r>
                        <a:rPr sz="1600">
                          <a:solidFill>
                            <a:srgbClr val="1A2744"/>
                          </a:solidFill>
                          <a:latin typeface="Arial"/>
                        </a:rPr>
                        <a:t>Replace gradually</a:t>
                      </a:r>
                    </a:p>
                  </a:txBody>
                  <a:tcPr/>
                </a:tc>
                <a:tc>
                  <a:txBody>
                    <a:bodyPr/>
                    <a:lstStyle/>
                    <a:p>
                      <a:r>
                        <a:rPr sz="1600">
                          <a:solidFill>
                            <a:srgbClr val="1A2744"/>
                          </a:solidFill>
                          <a:latin typeface="Arial"/>
                        </a:rPr>
                        <a:t>Strangler Fig + ACL</a:t>
                      </a:r>
                    </a:p>
                  </a:txBody>
                  <a:tcPr/>
                </a:tc>
              </a:tr>
              <a:tr h="365760">
                <a:tc>
                  <a:txBody>
                    <a:bodyPr/>
                    <a:lstStyle/>
                    <a:p>
                      <a:r>
                        <a:rPr sz="1600">
                          <a:solidFill>
                            <a:srgbClr val="1A2744"/>
                          </a:solidFill>
                          <a:latin typeface="Arial"/>
                        </a:rPr>
                        <a:t>Modernize reads first</a:t>
                      </a:r>
                    </a:p>
                  </a:txBody>
                  <a:tcPr/>
                </a:tc>
                <a:tc>
                  <a:txBody>
                    <a:bodyPr/>
                    <a:lstStyle/>
                    <a:p>
                      <a:r>
                        <a:rPr sz="1600">
                          <a:solidFill>
                            <a:srgbClr val="1A2744"/>
                          </a:solidFill>
                          <a:latin typeface="Arial"/>
                        </a:rPr>
                        <a:t>CDC + CQRS</a:t>
                      </a:r>
                    </a:p>
                  </a:txBody>
                  <a:tcPr/>
                </a:tc>
              </a:tr>
              <a:tr h="365760">
                <a:tc>
                  <a:txBody>
                    <a:bodyPr/>
                    <a:lstStyle/>
                    <a:p>
                      <a:r>
                        <a:rPr sz="1600">
                          <a:solidFill>
                            <a:srgbClr val="1A2744"/>
                          </a:solidFill>
                          <a:latin typeface="Arial"/>
                        </a:rPr>
                        <a:t>Publish reliable events</a:t>
                      </a:r>
                    </a:p>
                  </a:txBody>
                  <a:tcPr/>
                </a:tc>
                <a:tc>
                  <a:txBody>
                    <a:bodyPr/>
                    <a:lstStyle/>
                    <a:p>
                      <a:r>
                        <a:rPr sz="1600">
                          <a:solidFill>
                            <a:srgbClr val="1A2744"/>
                          </a:solidFill>
                          <a:latin typeface="Arial"/>
                        </a:rPr>
                        <a:t>Outbox + idempotent consumer</a:t>
                      </a:r>
                    </a:p>
                  </a:txBody>
                  <a:tcPr/>
                </a:tc>
              </a:tr>
              <a:tr h="365760">
                <a:tc>
                  <a:txBody>
                    <a:bodyPr/>
                    <a:lstStyle/>
                    <a:p>
                      <a:r>
                        <a:rPr sz="1600">
                          <a:solidFill>
                            <a:srgbClr val="1A2744"/>
                          </a:solidFill>
                          <a:latin typeface="Arial"/>
                        </a:rPr>
                        <a:t>Replace an internal module</a:t>
                      </a:r>
                    </a:p>
                  </a:txBody>
                  <a:tcPr/>
                </a:tc>
                <a:tc>
                  <a:txBody>
                    <a:bodyPr/>
                    <a:lstStyle/>
                    <a:p>
                      <a:r>
                        <a:rPr sz="1600">
                          <a:solidFill>
                            <a:srgbClr val="1A2744"/>
                          </a:solidFill>
                          <a:latin typeface="Arial"/>
                        </a:rPr>
                        <a:t>Branch by Abstraction + characterization tests</a:t>
                      </a:r>
                    </a:p>
                  </a:txBody>
                  <a:tcPr/>
                </a:tc>
              </a:tr>
              <a:tr h="365760">
                <a:tc>
                  <a:txBody>
                    <a:bodyPr/>
                    <a:lstStyle/>
                    <a:p>
                      <a:r>
                        <a:rPr sz="1600">
                          <a:solidFill>
                            <a:srgbClr val="1A2744"/>
                          </a:solidFill>
                          <a:latin typeface="Arial"/>
                        </a:rPr>
                        <a:t>Prove equivalence</a:t>
                      </a:r>
                    </a:p>
                  </a:txBody>
                  <a:tcPr/>
                </a:tc>
                <a:tc>
                  <a:txBody>
                    <a:bodyPr/>
                    <a:lstStyle/>
                    <a:p>
                      <a:r>
                        <a:rPr sz="1600">
                          <a:solidFill>
                            <a:srgbClr val="1A2744"/>
                          </a:solidFill>
                          <a:latin typeface="Arial"/>
                        </a:rPr>
                        <a:t>Parallel Run + reconciliation</a:t>
                      </a:r>
                    </a:p>
                  </a:txBody>
                  <a:tcPr/>
                </a:tc>
              </a:tr>
              <a:tr h="365760">
                <a:tc>
                  <a:txBody>
                    <a:bodyPr/>
                    <a:lstStyle/>
                    <a:p>
                      <a:r>
                        <a:rPr sz="1600">
                          <a:solidFill>
                            <a:srgbClr val="1A2744"/>
                          </a:solidFill>
                          <a:latin typeface="Arial"/>
                        </a:rPr>
                        <a:t>Move write ownership</a:t>
                      </a:r>
                    </a:p>
                  </a:txBody>
                  <a:tcPr/>
                </a:tc>
                <a:tc>
                  <a:txBody>
                    <a:bodyPr/>
                    <a:lstStyle/>
                    <a:p>
                      <a:r>
                        <a:rPr sz="1600">
                          <a:solidFill>
                            <a:srgbClr val="1A2744"/>
                          </a:solidFill>
                          <a:latin typeface="Arial"/>
                        </a:rPr>
                        <a:t>staged transfer + reverse sync</a:t>
                      </a:r>
                    </a:p>
                  </a:txBody>
                  <a:tcPr/>
                </a:tc>
              </a:tr>
              <a:tr h="365760">
                <a:tc>
                  <a:txBody>
                    <a:bodyPr/>
                    <a:lstStyle/>
                    <a:p>
                      <a:r>
                        <a:rPr sz="1600">
                          <a:solidFill>
                            <a:srgbClr val="1A2744"/>
                          </a:solidFill>
                          <a:latin typeface="Arial"/>
                        </a:rPr>
                        <a:t>Safe financial writes</a:t>
                      </a:r>
                    </a:p>
                  </a:txBody>
                  <a:tcPr/>
                </a:tc>
                <a:tc>
                  <a:txBody>
                    <a:bodyPr/>
                    <a:lstStyle/>
                    <a:p>
                      <a:r>
                        <a:rPr sz="1600">
                          <a:solidFill>
                            <a:srgbClr val="1A2744"/>
                          </a:solidFill>
                          <a:latin typeface="Arial"/>
                        </a:rPr>
                        <a:t>idempotency key + status inquiry</a:t>
                      </a:r>
                    </a:p>
                  </a:txBody>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3400" b="1">
                <a:solidFill>
                  <a:srgbClr val="0D1B3E"/>
                </a:solidFill>
                <a:latin typeface="Arial"/>
              </a:rPr>
              <a:t>Takeaways</a:t>
            </a:r>
          </a:p>
        </p:txBody>
      </p:sp>
      <p:sp>
        <p:nvSpPr>
          <p:cNvPr id="3" name="TextBox 2"/>
          <p:cNvSpPr txBox="1"/>
          <p:nvPr/>
        </p:nvSpPr>
        <p:spPr>
          <a:xfrm>
            <a:off x="548640" y="1371600"/>
            <a:ext cx="11094415" cy="5120640"/>
          </a:xfrm>
          <a:prstGeom prst="rect">
            <a:avLst/>
          </a:prstGeom>
          <a:noFill/>
        </p:spPr>
        <p:txBody>
          <a:bodyPr wrap="square">
            <a:spAutoFit/>
          </a:bodyPr>
          <a:lstStyle/>
          <a:p>
            <a:pPr>
              <a:spcAft>
                <a:spcPts val="600"/>
              </a:spcAft>
            </a:pPr>
            <a:r>
              <a:rPr sz="2000">
                <a:solidFill>
                  <a:srgbClr val="1A2744"/>
                </a:solidFill>
                <a:latin typeface="Arial"/>
              </a:rPr>
              <a:t>• Strangler Fig moves traffic. It does not move data or prove correctness</a:t>
            </a:r>
          </a:p>
          <a:p>
            <a:pPr>
              <a:spcAft>
                <a:spcPts val="600"/>
              </a:spcAft>
            </a:pPr>
            <a:r>
              <a:rPr sz="2000">
                <a:solidFill>
                  <a:srgbClr val="1A2744"/>
                </a:solidFill>
                <a:latin typeface="Arial"/>
              </a:rPr>
              <a:t>• One writer at every stage, and a removal date on every transitional piece</a:t>
            </a:r>
          </a:p>
          <a:p>
            <a:pPr>
              <a:spcAft>
                <a:spcPts val="600"/>
              </a:spcAft>
            </a:pPr>
            <a:r>
              <a:rPr sz="2000">
                <a:solidFill>
                  <a:srgbClr val="1A2744"/>
                </a:solidFill>
                <a:latin typeface="Arial"/>
              </a:rPr>
              <a:t>• Model pending vs posted; treat timeouts as unknown outcomes</a:t>
            </a:r>
          </a:p>
          <a:p>
            <a:pPr>
              <a:spcAft>
                <a:spcPts val="600"/>
              </a:spcAft>
            </a:pPr>
            <a:r>
              <a:rPr sz="2000">
                <a:solidFill>
                  <a:srgbClr val="1A2744"/>
                </a:solidFill>
                <a:latin typeface="Arial"/>
              </a:rPr>
              <a:t>• Prove with a parallel run, gate with reconciliation</a:t>
            </a:r>
          </a:p>
          <a:p>
            <a:pPr>
              <a:spcAft>
                <a:spcPts val="600"/>
              </a:spcAft>
            </a:pPr>
            <a:r>
              <a:rPr sz="2000">
                <a:solidFill>
                  <a:srgbClr val="1A2744"/>
                </a:solidFill>
                <a:latin typeface="Arial"/>
              </a:rPr>
              <a:t>• A capability is done when the new system owns its data, the books balance and the legacy path is off</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1B3E"/>
        </a:solidFill>
        <a:effectLst/>
      </p:bgPr>
    </p:bg>
    <p:spTree>
      <p:nvGrpSpPr>
        <p:cNvPr id="1" name=""/>
        <p:cNvGrpSpPr/>
        <p:nvPr/>
      </p:nvGrpSpPr>
      <p:grpSpPr/>
      <p:sp>
        <p:nvSpPr>
          <p:cNvPr id="2" name="TextBox 1"/>
          <p:cNvSpPr txBox="1"/>
          <p:nvPr/>
        </p:nvSpPr>
        <p:spPr>
          <a:xfrm>
            <a:off x="548640" y="365760"/>
            <a:ext cx="11094415" cy="914400"/>
          </a:xfrm>
          <a:prstGeom prst="rect">
            <a:avLst/>
          </a:prstGeom>
          <a:noFill/>
        </p:spPr>
        <p:txBody>
          <a:bodyPr wrap="square">
            <a:spAutoFit/>
          </a:bodyPr>
          <a:lstStyle/>
          <a:p>
            <a:r>
              <a:rPr sz="4000" b="1">
                <a:solidFill>
                  <a:srgbClr val="4ECDC4"/>
                </a:solidFill>
                <a:latin typeface="Arial"/>
              </a:rPr>
              <a:t>Thank you</a:t>
            </a:r>
          </a:p>
        </p:txBody>
      </p:sp>
      <p:sp>
        <p:nvSpPr>
          <p:cNvPr id="3" name="TextBox 2"/>
          <p:cNvSpPr txBox="1"/>
          <p:nvPr/>
        </p:nvSpPr>
        <p:spPr>
          <a:xfrm>
            <a:off x="548640" y="1280160"/>
            <a:ext cx="11094415" cy="731520"/>
          </a:xfrm>
          <a:prstGeom prst="rect">
            <a:avLst/>
          </a:prstGeom>
          <a:noFill/>
        </p:spPr>
        <p:txBody>
          <a:bodyPr wrap="none">
            <a:spAutoFit/>
          </a:bodyPr>
          <a:lstStyle/>
          <a:p>
            <a:r>
              <a:rPr sz="2600">
                <a:solidFill>
                  <a:srgbClr val="FFFFFF"/>
                </a:solidFill>
                <a:latin typeface="Arial"/>
              </a:rPr>
              <a:t>Context, Java examples, diagrams and slides</a:t>
            </a:r>
          </a:p>
        </p:txBody>
      </p:sp>
      <p:sp>
        <p:nvSpPr>
          <p:cNvPr id="4" name="TextBox 3"/>
          <p:cNvSpPr txBox="1"/>
          <p:nvPr/>
        </p:nvSpPr>
        <p:spPr>
          <a:xfrm>
            <a:off x="548640" y="2194560"/>
            <a:ext cx="11094415" cy="4297680"/>
          </a:xfrm>
          <a:prstGeom prst="rect">
            <a:avLst/>
          </a:prstGeom>
          <a:noFill/>
        </p:spPr>
        <p:txBody>
          <a:bodyPr wrap="square">
            <a:spAutoFit/>
          </a:bodyPr>
          <a:lstStyle/>
          <a:p>
            <a:pPr>
              <a:spcAft>
                <a:spcPts val="600"/>
              </a:spcAft>
            </a:pPr>
            <a:r>
              <a:rPr sz="1800">
                <a:solidFill>
                  <a:srgbClr val="FFFFFF"/>
                </a:solidFill>
                <a:latin typeface="Arial"/>
              </a:rPr>
              <a:t>github.com/wallaceespindola/legacy-modernization-patterns</a:t>
            </a:r>
          </a:p>
          <a:p>
            <a:pPr>
              <a:spcAft>
                <a:spcPts val="600"/>
              </a:spcAft>
            </a:pPr>
            <a:r>
              <a:rPr b="1" sz="1800">
                <a:solidFill>
                  <a:srgbClr val="FFFFFF"/>
                </a:solidFill>
                <a:latin typeface="Arial"/>
              </a:rPr>
              <a:t>Wallace Espindola</a:t>
            </a:r>
            <a:r>
              <a:rPr sz="1800">
                <a:solidFill>
                  <a:srgbClr val="FFFFFF"/>
                </a:solidFill>
                <a:latin typeface="Arial"/>
              </a:rPr>
              <a:t>, Solution Architect</a:t>
            </a:r>
          </a:p>
          <a:p>
            <a:pPr>
              <a:spcAft>
                <a:spcPts val="600"/>
              </a:spcAft>
            </a:pPr>
            <a:r>
              <a:rPr sz="1800">
                <a:solidFill>
                  <a:srgbClr val="FFFFFF"/>
                </a:solidFill>
                <a:latin typeface="Arial"/>
              </a:rPr>
              <a:t>linkedin.com/in/wallaceespindola | speakerdeck.com/wallacese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